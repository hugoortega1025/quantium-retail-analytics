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 Retail Analytics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Trial Evaluation &amp; Customer Segmentation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|  Customer Segmentation  |  Quasi-Experimental Design  |  Statistical Testing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2560320" cy="1005840"/>
          </a:xfrm>
          <a:prstGeom prst="rect">
            <a:avLst/>
          </a:prstGeom>
          <a:solidFill>
            <a:srgbClr val="243B5E"/>
          </a:solidFill>
          <a:ln w="12700">
            <a:solidFill>
              <a:srgbClr val="2E4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264,836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474720"/>
            <a:ext cx="2560320" cy="1005840"/>
          </a:xfrm>
          <a:prstGeom prst="rect">
            <a:avLst/>
          </a:prstGeom>
          <a:solidFill>
            <a:srgbClr val="243B5E"/>
          </a:solidFill>
          <a:ln w="12700">
            <a:solidFill>
              <a:srgbClr val="2E4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474720"/>
            <a:ext cx="2560320" cy="1005840"/>
          </a:xfrm>
          <a:prstGeom prst="rect">
            <a:avLst/>
          </a:prstGeom>
          <a:solidFill>
            <a:srgbClr val="243B5E"/>
          </a:solidFill>
          <a:ln w="12700">
            <a:solidFill>
              <a:srgbClr val="2E4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Stores Evaluated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69080" cy="2834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0690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CUSTOMER UNDERSTANDING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drive chip revenue?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management team lacked a clear understanding of chip purchasing behavior across customer segments — making promotional and shelf strategy decisions unclear and unsupported by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4069080" cy="2834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92040" y="1005840"/>
            <a:ext cx="40690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TRIAL EVALUATION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4920" y="1444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store layout work?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new store format was trialed in 3 stores. Without a proper control group comparison, the business couldn't determine whether any sales change was driven by the layout or external factors.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8321040" cy="868680"/>
          </a:xfrm>
          <a:prstGeom prst="rect">
            <a:avLst/>
          </a:prstGeom>
          <a:solidFill>
            <a:srgbClr val="EEF1F5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43251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transactional and customer data to identify the highest-value chip purchasing segments and deliver a statistically rigorous evaluation of the store trial — giving the category manager a data-driven basis for promotional strategy and rollout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148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789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078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40817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Cleaned 264,836 chip transactions across 270 stores — removed outliers, standardized product names, extracted pack size and brand features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41148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579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579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4871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purchase volume and spend by customer count to identify which lifestage and premium segments over-index on chip purchases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41148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369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2369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Affinity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preference scores per segment to identify brand over-indexing relative to population average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402336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0789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0789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Store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40817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trial store paired with the most statistically similar non-trial store using Pearson Correlation on pre-trial monthly sales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084832"/>
            <a:ext cx="402336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21579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21579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Evaluation — 95% CI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48716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Compared trial vs control store performance across the trial period using confidence interval testing to determine statistical significance of uplift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Who Buys Chips?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4580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SEGMENT</a:t>
            </a:r>
            <a:endParaRPr lang="en-US" sz="800" dirty="0"/>
          </a:p>
        </p:txBody>
      </p:sp>
      <p:pic>
        <p:nvPicPr>
          <p:cNvPr id="4" name="Image 0" descr="/home/claude/total_sales_customer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26" y="1097280"/>
            <a:ext cx="5380462" cy="320497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0D91387-7B9B-42EF-B1A5-F2425F221AA6}"/>
              </a:ext>
            </a:extLst>
          </p:cNvPr>
          <p:cNvGrpSpPr/>
          <p:nvPr/>
        </p:nvGrpSpPr>
        <p:grpSpPr>
          <a:xfrm>
            <a:off x="5910948" y="832539"/>
            <a:ext cx="3017520" cy="3273552"/>
            <a:chOff x="5806440" y="841248"/>
            <a:chExt cx="3017520" cy="3273552"/>
          </a:xfrm>
        </p:grpSpPr>
        <p:sp>
          <p:nvSpPr>
            <p:cNvPr id="5" name="Text 2"/>
            <p:cNvSpPr/>
            <p:nvPr/>
          </p:nvSpPr>
          <p:spPr>
            <a:xfrm>
              <a:off x="5806440" y="841248"/>
              <a:ext cx="3017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kern="0" spc="200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sz="8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5806440" y="1097280"/>
              <a:ext cx="3017520" cy="91440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DE1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5989320" y="1188720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Budget Older Families</a:t>
              </a:r>
              <a:endParaRPr lang="en-US" sz="11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989320" y="1499616"/>
              <a:ext cx="2697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Highest revenue segment — over-indexing on chip purchases relative to population share</a:t>
              </a:r>
              <a:endParaRPr lang="en-US" sz="95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5806440" y="2148840"/>
              <a:ext cx="3017520" cy="91440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DE1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5989320" y="2240280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Mainstream Young Singles</a:t>
              </a:r>
              <a:endParaRPr lang="en-US" sz="11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989320" y="2551176"/>
              <a:ext cx="2697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Second highest revenue driver with strong brand affinity across all chip brands</a:t>
              </a:r>
              <a:endParaRPr lang="en-US" sz="9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5806440" y="3200400"/>
              <a:ext cx="3017520" cy="91440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DE1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5989320" y="3291840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Spend per customer is equal</a:t>
              </a:r>
              <a:endParaRPr lang="en-US" sz="11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989320" y="3602736"/>
              <a:ext cx="2697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$32-$35 across top segments — total revenue difference driven by customer traffic, not individual spend</a:t>
              </a:r>
              <a:endParaRPr lang="en-US" sz="950" dirty="0"/>
            </a:p>
          </p:txBody>
        </p:sp>
      </p:grpSp>
      <p:sp>
        <p:nvSpPr>
          <p:cNvPr id="15" name="Shape 12"/>
          <p:cNvSpPr/>
          <p:nvPr/>
        </p:nvSpPr>
        <p:spPr>
          <a:xfrm>
            <a:off x="548640" y="4315968"/>
            <a:ext cx="83210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43799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Prioritize shelf space, promotional investment, and new product ranging toward Budget Older Families and Mainstream Young Singles/Couples across all 270 stores.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Affinity — Mainstream Young Singles/Couples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SCORE vs POPULATION AVERAGE (score &gt; 1 = over-indexes on that brand)</a:t>
            </a:r>
            <a:endParaRPr lang="en-US" sz="900" dirty="0"/>
          </a:p>
        </p:txBody>
      </p:sp>
      <p:pic>
        <p:nvPicPr>
          <p:cNvPr id="4" name="Image 0" descr="/home/claude/brand_p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78992"/>
            <a:ext cx="54864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078992"/>
            <a:ext cx="2743200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Tyrrells leads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813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preference score among Mainstream Young Singles — 24% above population average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2103120"/>
            <a:ext cx="2743200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Twisties &amp; Doritos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5054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Second and third — segment over-indexes across all top 10 brands without exception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3127248"/>
            <a:ext cx="2743200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opportunity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35295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 scores above 1.0 — this segment is a reliable chip buyer regardless of brand, making it ideal for promotional targeting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4251960"/>
            <a:ext cx="8321040" cy="594360"/>
          </a:xfrm>
          <a:prstGeom prst="rect">
            <a:avLst/>
          </a:prstGeom>
          <a:solidFill>
            <a:srgbClr val="EEF1F5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431596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Budget Older Families and Mainstream Young Singles/Couples over-index across most chip brands — supporting a broad promotional strategy rather than brand-specific targeting for these segments.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211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Trial Evaluation — Results</a:t>
            </a:r>
            <a:endParaRPr lang="en-US" sz="28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87FA19-7B7C-46A4-0BDD-FD375E7D2A7B}"/>
              </a:ext>
            </a:extLst>
          </p:cNvPr>
          <p:cNvGrpSpPr/>
          <p:nvPr/>
        </p:nvGrpSpPr>
        <p:grpSpPr>
          <a:xfrm>
            <a:off x="6167850" y="1338945"/>
            <a:ext cx="2788920" cy="3118104"/>
            <a:chOff x="6080760" y="1051560"/>
            <a:chExt cx="2788920" cy="3118104"/>
          </a:xfrm>
        </p:grpSpPr>
        <p:sp>
          <p:nvSpPr>
            <p:cNvPr id="5" name="Shape 2"/>
            <p:cNvSpPr/>
            <p:nvPr/>
          </p:nvSpPr>
          <p:spPr>
            <a:xfrm>
              <a:off x="6080760" y="1051560"/>
              <a:ext cx="2788920" cy="96012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DE1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3"/>
            <p:cNvSpPr/>
            <p:nvPr/>
          </p:nvSpPr>
          <p:spPr>
            <a:xfrm>
              <a:off x="6080760" y="1051560"/>
              <a:ext cx="54864" cy="960120"/>
            </a:xfrm>
            <a:prstGeom prst="rect">
              <a:avLst/>
            </a:prstGeom>
            <a:solidFill>
              <a:srgbClr val="2E7D32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6263640" y="112471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 77 ✓</a:t>
              </a:r>
              <a:endParaRPr lang="en-US" sz="11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589520" y="1124712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2E7D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Significant uplift</a:t>
              </a:r>
              <a:endParaRPr lang="en-US" sz="9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263640" y="1435608"/>
              <a:ext cx="2514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exceeded 95% CI upper bound. Uplift driven by new customer acquisition during trial period.</a:t>
              </a:r>
              <a:endParaRPr lang="en-US" sz="9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080760" y="2130552"/>
              <a:ext cx="2788920" cy="96012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DE1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6080760" y="2130552"/>
              <a:ext cx="54864" cy="960120"/>
            </a:xfrm>
            <a:prstGeom prst="rect">
              <a:avLst/>
            </a:prstGeom>
            <a:solidFill>
              <a:srgbClr val="E65100"/>
            </a:solidFill>
            <a:ln w="12700">
              <a:solidFill>
                <a:srgbClr val="E651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6263640" y="2203704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 86 —</a:t>
              </a:r>
              <a:endParaRPr lang="en-US" sz="11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589520" y="2203704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E651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Short-lived uplift</a:t>
              </a:r>
              <a:endParaRPr lang="en-US" sz="9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263640" y="2514600"/>
              <a:ext cx="2514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uplift that couldn't be sustained. No negative impact. Layout had no harm — investigate local competition.</a:t>
              </a:r>
              <a:endParaRPr lang="en-US" sz="9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080760" y="3209544"/>
              <a:ext cx="2788920" cy="96012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DE1E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6080760" y="3209544"/>
              <a:ext cx="54864" cy="960120"/>
            </a:xfrm>
            <a:prstGeom prst="rect">
              <a:avLst/>
            </a:prstGeom>
            <a:solidFill>
              <a:srgbClr val="2E7D32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6263640" y="3282696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 88 ✓</a:t>
              </a:r>
              <a:endParaRPr lang="en-US" sz="11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7589520" y="3282696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2E7D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Significant uplift</a:t>
              </a:r>
              <a:endParaRPr lang="en-US" sz="9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263640" y="3593592"/>
              <a:ext cx="2514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Strongest result. Driven by both 13% customer growth and 2–11% increase in per-customer transactions.</a:t>
              </a:r>
              <a:endParaRPr lang="en-US" sz="900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A8B0432E-C925-55F0-ED74-EA8189178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" y="765034"/>
            <a:ext cx="5608319" cy="4378466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1688213B-230E-4025-1608-A5ECC1E8C207}"/>
              </a:ext>
            </a:extLst>
          </p:cNvPr>
          <p:cNvSpPr/>
          <p:nvPr/>
        </p:nvSpPr>
        <p:spPr>
          <a:xfrm>
            <a:off x="6156959" y="726707"/>
            <a:ext cx="2496747" cy="49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vs CONTROL STORE PERFORMANCE — 95% CONFIDENCE INTERVAL TESTING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CATEGORY MANAGEMENT TEAM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3210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261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261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Budget Older Families &amp; Mainstream Young Singles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6093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segments drive the highest chip revenue across all 270 stores. Shelf space, promotional campaigns, and new product ranging should be oriented toward their preferences — broad brand affinity means any chip promotion targeting these segments will be effective.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83210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54864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4505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4505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new store layout — prioritize Store 77 &amp; 88 profiles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279806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 of 3 trial stores showed statistically significant uplift at 95% confidence. The layout produces a positive effect on chip sales and should be deployed chain-wide. Prioritize stores that share the customer profile of Store 77 and Store 88 for maximum impact.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83210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54864" cy="10515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6393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6393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Store 86 before rollout in similar locations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398678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Store 86 showed early uplift that did not sustain. The layout caused no harm but the short-lived effect may reflect local competitive dynamics. Additional in-store activation or promotional support may be required to sustain uplift in stores with similar profiles.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892040" y="914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4023360" cy="1024128"/>
          </a:xfrm>
          <a:prstGeom prst="rect">
            <a:avLst/>
          </a:prstGeom>
          <a:solidFill>
            <a:srgbClr val="1F3558"/>
          </a:solidFill>
          <a:ln w="1270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54864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trial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trial across more stores would provide more statistically robust conclusions before full chain rollout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4023360" cy="1024128"/>
          </a:xfrm>
          <a:prstGeom prst="rect">
            <a:avLst/>
          </a:prstGeom>
          <a:solidFill>
            <a:srgbClr val="1F3558"/>
          </a:solidFill>
          <a:ln w="1270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864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Store 86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79806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whether the short-lived uplift is driven by local competition or layout execution — in-store observation recommended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4023360" cy="1024128"/>
          </a:xfrm>
          <a:prstGeom prst="rect">
            <a:avLst/>
          </a:prstGeom>
          <a:solidFill>
            <a:srgbClr val="1F3558"/>
          </a:solidFill>
          <a:ln w="1270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54864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promotions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96849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promotional campaigns for Budget Older Families and Mainstream Young Singles with measured uplift testing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92040" y="1207008"/>
            <a:ext cx="3977640" cy="1024128"/>
          </a:xfrm>
          <a:prstGeom prst="rect">
            <a:avLst/>
          </a:prstGeom>
          <a:solidFill>
            <a:srgbClr val="1F3558"/>
          </a:solidFill>
          <a:ln w="1270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92040" y="1207008"/>
            <a:ext cx="54864" cy="1024128"/>
          </a:xfrm>
          <a:prstGeom prst="rect">
            <a:avLst/>
          </a:prstGeom>
          <a:solidFill>
            <a:srgbClr val="8BA3C4"/>
          </a:solidFill>
          <a:ln w="12700">
            <a:solidFill>
              <a:srgbClr val="8BA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93208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93208" y="162763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trial stores — statistical power is limited and conclusions should be validated with a larger sample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92040" y="2377440"/>
            <a:ext cx="3977640" cy="1024128"/>
          </a:xfrm>
          <a:prstGeom prst="rect">
            <a:avLst/>
          </a:prstGeom>
          <a:solidFill>
            <a:srgbClr val="1F3558"/>
          </a:solidFill>
          <a:ln w="1270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92040" y="2377440"/>
            <a:ext cx="54864" cy="1024128"/>
          </a:xfrm>
          <a:prstGeom prst="rect">
            <a:avLst/>
          </a:prstGeom>
          <a:solidFill>
            <a:srgbClr val="8BA3C4"/>
          </a:solidFill>
          <a:ln w="12700">
            <a:solidFill>
              <a:srgbClr val="8BA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93208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93208" y="2798064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testing confirms uplift but cannot fully isolate layout effect from external factors — difference-in-differences would strengthen claims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847</Words>
  <Application>Microsoft Macintosh PowerPoint</Application>
  <PresentationFormat>On-screen Show (16:9)</PresentationFormat>
  <Paragraphs>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Quantium Retail Analytics &amp; Store Trial Evaluation</dc:title>
  <dc:subject>PptxGenJS Presentation</dc:subject>
  <dc:creator>PptxGenJS</dc:creator>
  <cp:lastModifiedBy>Ortega-Morales, Hugo</cp:lastModifiedBy>
  <cp:revision>2</cp:revision>
  <dcterms:created xsi:type="dcterms:W3CDTF">2026-04-25T00:20:35Z</dcterms:created>
  <dcterms:modified xsi:type="dcterms:W3CDTF">2026-04-25T00:41:41Z</dcterms:modified>
</cp:coreProperties>
</file>